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91" d="100"/>
          <a:sy n="91" d="100"/>
        </p:scale>
        <p:origin x="52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55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33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22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67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46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90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061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31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51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70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906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488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019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196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36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885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79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4151562-17D6-430A-9679-C2020E09147F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1AD4639-60B9-465E-9F48-9962C03633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9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C2F2-C1CE-1AC3-A459-52454FF8A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350" y="3231154"/>
            <a:ext cx="8825658" cy="1171973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SOFTWARE DEVELOPMENT</a:t>
            </a:r>
            <a:br>
              <a:rPr lang="en-US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                   </a:t>
            </a:r>
            <a:r>
              <a:rPr lang="en-US" sz="8000" b="1" dirty="0">
                <a:latin typeface="Algerian" panose="04020705040A02060702" pitchFamily="82" charset="0"/>
              </a:rPr>
              <a:t>🧑‍💻</a:t>
            </a:r>
            <a:endParaRPr lang="en-IN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397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3D4F-42B2-B70E-9D97-334F0E4A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800" y="1082725"/>
            <a:ext cx="8761413" cy="706964"/>
          </a:xfrm>
        </p:spPr>
        <p:txBody>
          <a:bodyPr/>
          <a:lstStyle/>
          <a:p>
            <a:r>
              <a:rPr lang="en-US" sz="4800" b="1" dirty="0">
                <a:latin typeface="Algerian" panose="04020705040A02060702" pitchFamily="82" charset="0"/>
              </a:rPr>
              <a:t>SOFTWARE ENGINEERING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7AA41-2EB8-330E-120E-7D009914E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It is a Systematic, Disciplined, Cost-Effective Techniques for Software Development.</a:t>
            </a:r>
          </a:p>
          <a:p>
            <a:pPr>
              <a:lnSpc>
                <a:spcPct val="250000"/>
              </a:lnSpc>
            </a:pPr>
            <a:r>
              <a:rPr lang="en-US" sz="2400" dirty="0"/>
              <a:t>Engineer Approach to develop a Software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5701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4BE8-0E7D-A71E-AD89-FF203743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974" y="973668"/>
            <a:ext cx="8003097" cy="706964"/>
          </a:xfrm>
        </p:spPr>
        <p:txBody>
          <a:bodyPr/>
          <a:lstStyle/>
          <a:p>
            <a:r>
              <a:rPr lang="en-US" sz="5400" b="1" dirty="0">
                <a:latin typeface="Algerian" panose="04020705040A02060702" pitchFamily="82" charset="0"/>
              </a:rPr>
              <a:t>EVOLUTION phases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5C418-6A93-1A8E-5AB7-B8D7F4D8F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41" y="2635812"/>
            <a:ext cx="8825659" cy="43899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3"/>
                </a:solidFill>
              </a:rPr>
              <a:t>1945-65</a:t>
            </a:r>
            <a:r>
              <a:rPr lang="en-US" sz="1600" b="1" dirty="0"/>
              <a:t> </a:t>
            </a:r>
            <a:r>
              <a:rPr lang="en-US" sz="1600" dirty="0"/>
              <a:t>– </a:t>
            </a:r>
            <a:r>
              <a:rPr lang="en-US" sz="1600" b="1" dirty="0"/>
              <a:t>Origin</a:t>
            </a:r>
            <a:r>
              <a:rPr lang="en-US" sz="1600" dirty="0"/>
              <a:t> :  </a:t>
            </a:r>
            <a:br>
              <a:rPr lang="en-US" sz="1600" dirty="0"/>
            </a:br>
            <a:r>
              <a:rPr lang="en-US" sz="1600" dirty="0"/>
              <a:t>NATO(North Atlantic Treaty Organization) introduced  “Software Development”(SD) word in their conference to stop the “Build and Fix Method” and start making software with proper planning and research.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3"/>
                </a:solidFill>
              </a:rPr>
              <a:t>1965-85 </a:t>
            </a:r>
            <a:r>
              <a:rPr lang="en-US" sz="1600" dirty="0"/>
              <a:t>– </a:t>
            </a:r>
            <a:r>
              <a:rPr lang="en-US" sz="1600" b="1" dirty="0"/>
              <a:t>Crisis</a:t>
            </a:r>
            <a:r>
              <a:rPr lang="en-US" sz="1600" dirty="0"/>
              <a:t> :</a:t>
            </a:r>
            <a:r>
              <a:rPr lang="en-US" sz="1600" b="1" dirty="0">
                <a:solidFill>
                  <a:schemeClr val="accent3"/>
                </a:solidFill>
              </a:rPr>
              <a:t> </a:t>
            </a:r>
            <a:br>
              <a:rPr lang="en-US" sz="1600" dirty="0"/>
            </a:br>
            <a:r>
              <a:rPr lang="en-US" sz="1600" dirty="0"/>
              <a:t>If 100 software’s are Build at that time only 2% are used, 50-60% are not delivered or not used and remaining were scraped due to over time or over budget or any other reason.</a:t>
            </a:r>
            <a:br>
              <a:rPr lang="en-US" sz="1600" dirty="0"/>
            </a:br>
            <a:r>
              <a:rPr lang="en-US" sz="1600" dirty="0"/>
              <a:t>Example: OS/360 IBM Product – Head of this software said in his book – “Multi-Millionaire Fail Project”</a:t>
            </a:r>
            <a:br>
              <a:rPr lang="en-US" sz="1600" dirty="0"/>
            </a:b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329222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3FAA-3001-AF0D-2BA1-AE95E266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565" y="2368607"/>
            <a:ext cx="8825659" cy="43090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3"/>
                </a:solidFill>
              </a:rPr>
              <a:t>1990-2000 </a:t>
            </a:r>
            <a:r>
              <a:rPr lang="en-US" b="1" dirty="0">
                <a:solidFill>
                  <a:schemeClr val="tx1"/>
                </a:solidFill>
              </a:rPr>
              <a:t>– Internet :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 most famous software that is still working till now with a most heavy competition “</a:t>
            </a:r>
            <a:r>
              <a:rPr lang="en-US" b="1" dirty="0">
                <a:solidFill>
                  <a:schemeClr val="tx1"/>
                </a:solidFill>
              </a:rPr>
              <a:t>Microsoft Windows</a:t>
            </a:r>
            <a:r>
              <a:rPr lang="en-US" dirty="0">
                <a:solidFill>
                  <a:schemeClr val="tx1"/>
                </a:solidFill>
              </a:rPr>
              <a:t>” – System Software.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3"/>
                </a:solidFill>
              </a:rPr>
              <a:t>2000-2010 </a:t>
            </a:r>
            <a:r>
              <a:rPr lang="en-US" b="1" dirty="0">
                <a:solidFill>
                  <a:schemeClr val="tx1"/>
                </a:solidFill>
              </a:rPr>
              <a:t>– Light Weight :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Mobile Phones were introduced for that light weight software’s were needed so that it can run properly and smoothly.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3"/>
                </a:solidFill>
              </a:rPr>
              <a:t>2010-Till Now </a:t>
            </a:r>
            <a:r>
              <a:rPr lang="en-US" b="1" dirty="0">
                <a:solidFill>
                  <a:schemeClr val="tx1"/>
                </a:solidFill>
              </a:rPr>
              <a:t>– AI, ML, DL:</a:t>
            </a:r>
            <a:br>
              <a:rPr lang="en-IN" b="1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Artificial Intelligence, Machine Learning, Deep Learning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400411-F88E-92C7-120E-FFD79A92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754" y="923334"/>
            <a:ext cx="8003097" cy="706964"/>
          </a:xfrm>
        </p:spPr>
        <p:txBody>
          <a:bodyPr/>
          <a:lstStyle/>
          <a:p>
            <a:r>
              <a:rPr lang="en-US" sz="5400" b="1" dirty="0">
                <a:latin typeface="Algerian" panose="04020705040A02060702" pitchFamily="82" charset="0"/>
              </a:rPr>
              <a:t>EVOLUTION phases</a:t>
            </a:r>
            <a:endParaRPr lang="en-IN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16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DA22-735E-0D8F-04CC-660E54B75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067" y="2541864"/>
            <a:ext cx="8825659" cy="3670883"/>
          </a:xfrm>
        </p:spPr>
        <p:txBody>
          <a:bodyPr>
            <a:normAutofit/>
          </a:bodyPr>
          <a:lstStyle/>
          <a:p>
            <a:pPr algn="just"/>
            <a:r>
              <a:rPr lang="en-US" sz="5400" b="1" dirty="0">
                <a:solidFill>
                  <a:srgbClr val="C00000"/>
                </a:solidFill>
              </a:rPr>
              <a:t>One of the best thing in the Evolution Phase is most the Software’s are now Free.</a:t>
            </a:r>
            <a:endParaRPr lang="en-IN" sz="5400" b="1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5B4125-9AB1-2343-A9F1-D0D7C31F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150" y="906556"/>
            <a:ext cx="8003097" cy="706964"/>
          </a:xfrm>
        </p:spPr>
        <p:txBody>
          <a:bodyPr/>
          <a:lstStyle/>
          <a:p>
            <a:r>
              <a:rPr lang="en-US" sz="5400" b="1" dirty="0">
                <a:latin typeface="Algerian" panose="04020705040A02060702" pitchFamily="82" charset="0"/>
              </a:rPr>
              <a:t>CONCLUSION</a:t>
            </a:r>
            <a:endParaRPr lang="en-IN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68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530B-7A5C-8571-EEFD-68142940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903" y="982057"/>
            <a:ext cx="9557787" cy="706964"/>
          </a:xfrm>
        </p:spPr>
        <p:txBody>
          <a:bodyPr/>
          <a:lstStyle/>
          <a:p>
            <a:r>
              <a:rPr lang="en-US" sz="4000" b="1" dirty="0">
                <a:latin typeface="Algerian" panose="04020705040A02060702" pitchFamily="82" charset="0"/>
              </a:rPr>
              <a:t>SOFTWARE DEVELOPMENT LIFE CYCLE</a:t>
            </a:r>
            <a:endParaRPr lang="en-IN" sz="4000" b="1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7B6F9-6048-E3E8-CE51-012403A23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918" y="2315360"/>
            <a:ext cx="5721293" cy="44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73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58EB-C4B5-28F1-300B-3A52F7EE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4" y="940112"/>
            <a:ext cx="8761413" cy="706964"/>
          </a:xfrm>
        </p:spPr>
        <p:txBody>
          <a:bodyPr/>
          <a:lstStyle/>
          <a:p>
            <a:r>
              <a:rPr lang="en-US" sz="4400" b="1" dirty="0">
                <a:latin typeface="Algerian" panose="04020705040A02060702" pitchFamily="82" charset="0"/>
              </a:rPr>
              <a:t>CLASSICAL WATERFALL MODEL</a:t>
            </a:r>
            <a:endParaRPr lang="en-IN" sz="4400" b="1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907D72-CB9C-129A-F687-700C6A091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071" y="2667699"/>
            <a:ext cx="8237989" cy="403219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79A12F-EF3E-5120-B936-A9D9C9D297AC}"/>
              </a:ext>
            </a:extLst>
          </p:cNvPr>
          <p:cNvSpPr/>
          <p:nvPr/>
        </p:nvSpPr>
        <p:spPr>
          <a:xfrm>
            <a:off x="3548543" y="2726422"/>
            <a:ext cx="4572000" cy="5452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the project is possible to do or not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1C50F3-11E4-3BEB-3D2C-F49C9738D4F5}"/>
              </a:ext>
            </a:extLst>
          </p:cNvPr>
          <p:cNvSpPr/>
          <p:nvPr/>
        </p:nvSpPr>
        <p:spPr>
          <a:xfrm>
            <a:off x="4598565" y="3418514"/>
            <a:ext cx="2079072" cy="4320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SRS Document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46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DB02B6-6AF4-54C1-AB3D-25DDBE47FD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130607"/>
              </p:ext>
            </p:extLst>
          </p:nvPr>
        </p:nvGraphicFramePr>
        <p:xfrm>
          <a:off x="595617" y="2608977"/>
          <a:ext cx="10620464" cy="3816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0232">
                  <a:extLst>
                    <a:ext uri="{9D8B030D-6E8A-4147-A177-3AD203B41FA5}">
                      <a16:colId xmlns:a16="http://schemas.microsoft.com/office/drawing/2014/main" val="3282392592"/>
                    </a:ext>
                  </a:extLst>
                </a:gridCol>
                <a:gridCol w="5310232">
                  <a:extLst>
                    <a:ext uri="{9D8B030D-6E8A-4147-A177-3AD203B41FA5}">
                      <a16:colId xmlns:a16="http://schemas.microsoft.com/office/drawing/2014/main" val="3170069679"/>
                    </a:ext>
                  </a:extLst>
                </a:gridCol>
              </a:tblGrid>
              <a:tr h="4051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Disadvantage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50814"/>
                  </a:ext>
                </a:extLst>
              </a:tr>
              <a:tr h="581509">
                <a:tc>
                  <a:txBody>
                    <a:bodyPr/>
                    <a:lstStyle/>
                    <a:p>
                      <a:r>
                        <a:rPr lang="en-US" dirty="0"/>
                        <a:t>1. Base Model.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Rigid (not flexible).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282868"/>
                  </a:ext>
                </a:extLst>
              </a:tr>
              <a:tr h="632402">
                <a:tc>
                  <a:txBody>
                    <a:bodyPr/>
                    <a:lstStyle/>
                    <a:p>
                      <a:r>
                        <a:rPr lang="en-US" dirty="0"/>
                        <a:t>2. Simple and Easy.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No Feedback taken from customer.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54113"/>
                  </a:ext>
                </a:extLst>
              </a:tr>
              <a:tr h="999011">
                <a:tc>
                  <a:txBody>
                    <a:bodyPr/>
                    <a:lstStyle/>
                    <a:p>
                      <a:r>
                        <a:rPr lang="en-US" dirty="0"/>
                        <a:t>3. Suitable for small projects(means if the customer knows exactly what they want).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No Testing or Experiment.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910664"/>
                  </a:ext>
                </a:extLst>
              </a:tr>
              <a:tr h="793761">
                <a:tc>
                  <a:txBody>
                    <a:bodyPr/>
                    <a:lstStyle/>
                    <a:p>
                      <a:r>
                        <a:rPr lang="en-US" dirty="0"/>
                        <a:t>4. Phases are processed and completed one at a time.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 No Parallelism.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061207"/>
                  </a:ext>
                </a:extLst>
              </a:tr>
              <a:tr h="405154">
                <a:tc>
                  <a:txBody>
                    <a:bodyPr/>
                    <a:lstStyle/>
                    <a:p>
                      <a:r>
                        <a:rPr lang="en-US" dirty="0"/>
                        <a:t>5. Well understood Milestones.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 60% efforts in Maintenance Phase.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18630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C842C4D-6164-4AF0-3016-FAFAF32E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r>
              <a:rPr lang="en-US" sz="4400" b="1" dirty="0">
                <a:latin typeface="Algerian" panose="04020705040A02060702" pitchFamily="82" charset="0"/>
              </a:rPr>
              <a:t>CLASSICAL WATERFALL MODEL</a:t>
            </a:r>
            <a:endParaRPr lang="en-IN" sz="4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928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38CC5B-9789-72DF-10CE-CDAED559D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0" y="2449585"/>
            <a:ext cx="10620463" cy="424482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7961D2-2B60-BCC0-BC94-DE484B03E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Iterative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99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3F573-9E34-DDFF-3D1A-392EE138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7280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Modified version of Waterfall Mode.</a:t>
            </a:r>
          </a:p>
          <a:p>
            <a:pPr>
              <a:lnSpc>
                <a:spcPct val="160000"/>
              </a:lnSpc>
            </a:pPr>
            <a:r>
              <a:rPr lang="en-US" dirty="0"/>
              <a:t>Major Difference between Waterfall and Iterative Model: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Iterative Model have Feedbacks i.e. one phase can give suggestions to previous phase for better modifications.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Except Feasibility Study Phase – we can’t give feedback to this phase that means if once you are committed to develop a software you can’t backstep.</a:t>
            </a:r>
          </a:p>
          <a:p>
            <a:pPr>
              <a:lnSpc>
                <a:spcPct val="160000"/>
              </a:lnSpc>
            </a:pPr>
            <a:r>
              <a:rPr lang="en-IN" dirty="0"/>
              <a:t>No Phase Overlapping – One time one phase.</a:t>
            </a:r>
          </a:p>
          <a:p>
            <a:pPr>
              <a:lnSpc>
                <a:spcPct val="160000"/>
              </a:lnSpc>
            </a:pPr>
            <a:r>
              <a:rPr lang="en-IN" dirty="0"/>
              <a:t>No Intermediate Delivery – No Prototype can be given.</a:t>
            </a:r>
          </a:p>
          <a:p>
            <a:pPr>
              <a:lnSpc>
                <a:spcPct val="160000"/>
              </a:lnSpc>
            </a:pPr>
            <a:r>
              <a:rPr lang="en-IN" dirty="0"/>
              <a:t>Less Customer Interaction.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AE8315-2D02-2630-46B1-8C606AA7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Iterative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71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1708F1-A34C-56DD-004E-4CD575384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22" y="2340528"/>
            <a:ext cx="7675927" cy="416932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C1AE4E5-21F3-E4B4-8B5F-EFA0E229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V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62337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BD994-510A-D88F-3913-57C365A59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Known as Verification &amp; Validation Model.</a:t>
            </a:r>
          </a:p>
          <a:p>
            <a:pPr>
              <a:lnSpc>
                <a:spcPct val="150000"/>
              </a:lnSpc>
            </a:pPr>
            <a:r>
              <a:rPr lang="en-US" dirty="0"/>
              <a:t>Extension of Waterfall Model.</a:t>
            </a:r>
          </a:p>
          <a:p>
            <a:pPr>
              <a:lnSpc>
                <a:spcPct val="150000"/>
              </a:lnSpc>
            </a:pPr>
            <a:r>
              <a:rPr lang="en-US" dirty="0"/>
              <a:t>Testing is associated with every phase of life cycle.</a:t>
            </a:r>
          </a:p>
          <a:p>
            <a:pPr>
              <a:lnSpc>
                <a:spcPct val="150000"/>
              </a:lnSpc>
            </a:pPr>
            <a:r>
              <a:rPr lang="en-US" dirty="0"/>
              <a:t>Verification Phase includes – Requirement Gathering, System Analysis, Software Design, Module Design.</a:t>
            </a:r>
          </a:p>
          <a:p>
            <a:pPr>
              <a:lnSpc>
                <a:spcPct val="150000"/>
              </a:lnSpc>
            </a:pPr>
            <a:r>
              <a:rPr lang="en-US" dirty="0"/>
              <a:t>Validation Phase includes – Unit Testing, Integration Testing, System Testing, Acceptance Testing. 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D23328-1C2D-D3BD-970E-ADED0900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V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97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AB2C-0AE6-41CE-3B41-99DE08305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4763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dirty="0"/>
              <a:t>Time Saving.</a:t>
            </a:r>
          </a:p>
          <a:p>
            <a:pPr>
              <a:lnSpc>
                <a:spcPct val="150000"/>
              </a:lnSpc>
            </a:pPr>
            <a:r>
              <a:rPr lang="en-US" dirty="0"/>
              <a:t>Good understanding of the project in the beginning.</a:t>
            </a:r>
          </a:p>
          <a:p>
            <a:pPr>
              <a:lnSpc>
                <a:spcPct val="150000"/>
              </a:lnSpc>
            </a:pPr>
            <a:r>
              <a:rPr lang="en-US" dirty="0"/>
              <a:t>Every component be testable.</a:t>
            </a:r>
          </a:p>
          <a:p>
            <a:pPr>
              <a:lnSpc>
                <a:spcPct val="150000"/>
              </a:lnSpc>
            </a:pPr>
            <a:r>
              <a:rPr lang="en-US" dirty="0"/>
              <a:t>Progress can be Traced easily.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Disadvantages:</a:t>
            </a:r>
          </a:p>
          <a:p>
            <a:pPr>
              <a:lnSpc>
                <a:spcPct val="150000"/>
              </a:lnSpc>
            </a:pPr>
            <a:r>
              <a:rPr lang="en-IN" dirty="0"/>
              <a:t>No feedback so less scope of changes.</a:t>
            </a:r>
          </a:p>
          <a:p>
            <a:pPr>
              <a:lnSpc>
                <a:spcPct val="150000"/>
              </a:lnSpc>
            </a:pPr>
            <a:r>
              <a:rPr lang="en-IN" dirty="0"/>
              <a:t>Risk analysis not done.</a:t>
            </a:r>
          </a:p>
          <a:p>
            <a:pPr>
              <a:lnSpc>
                <a:spcPct val="150000"/>
              </a:lnSpc>
            </a:pPr>
            <a:r>
              <a:rPr lang="en-IN" dirty="0"/>
              <a:t>Not good for big or object-oriented projects.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7F0C7F-53AA-4F21-2F93-2C197C11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V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42888"/>
      </p:ext>
    </p:extLst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2FAFEC-C287-E144-25C0-13027C84B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70" y="2662223"/>
            <a:ext cx="10194605" cy="371341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77B9F4E-FD12-1EBB-44C0-0A2CB0BA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922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PROTOTYPE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43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01216-7A3A-5A5B-004A-4BA90B4FD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If customer is not sure/clear with the idea then use this model.</a:t>
            </a:r>
          </a:p>
          <a:p>
            <a:pPr>
              <a:lnSpc>
                <a:spcPct val="250000"/>
              </a:lnSpc>
            </a:pPr>
            <a:r>
              <a:rPr lang="en-US" dirty="0"/>
              <a:t>Throw away Model [If accepted then go ahead otherwise throw it].</a:t>
            </a:r>
          </a:p>
          <a:p>
            <a:pPr>
              <a:lnSpc>
                <a:spcPct val="250000"/>
              </a:lnSpc>
            </a:pPr>
            <a:r>
              <a:rPr lang="en-US" dirty="0"/>
              <a:t>Good for Technical and Requirement Risks.</a:t>
            </a:r>
          </a:p>
          <a:p>
            <a:pPr>
              <a:lnSpc>
                <a:spcPct val="250000"/>
              </a:lnSpc>
            </a:pPr>
            <a:r>
              <a:rPr lang="en-US" dirty="0"/>
              <a:t>Increase in Cost of Development [Disadvantage].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1BD4BE-8F07-D414-E706-B1567771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PROTOTYPE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5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707DBD-59C1-F7EB-4795-D0FBC8037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444109"/>
            <a:ext cx="9395670" cy="40657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7898F54-8361-4FC6-6BB1-297B094AE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Incremental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7108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0887-D5D8-FAB4-D6A3-9B8BDC5DE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3085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One by One Module Developed or we can say module by module working.</a:t>
            </a:r>
          </a:p>
          <a:p>
            <a:pPr>
              <a:lnSpc>
                <a:spcPct val="200000"/>
              </a:lnSpc>
            </a:pPr>
            <a:r>
              <a:rPr lang="en-US" dirty="0"/>
              <a:t>Customer Interaction Maximum.</a:t>
            </a:r>
          </a:p>
          <a:p>
            <a:pPr>
              <a:lnSpc>
                <a:spcPct val="200000"/>
              </a:lnSpc>
            </a:pPr>
            <a:r>
              <a:rPr lang="en-US" dirty="0"/>
              <a:t>Large Projects.</a:t>
            </a:r>
          </a:p>
          <a:p>
            <a:pPr>
              <a:lnSpc>
                <a:spcPct val="200000"/>
              </a:lnSpc>
            </a:pPr>
            <a:r>
              <a:rPr lang="en-US" dirty="0"/>
              <a:t>Early Release Product Demand.</a:t>
            </a:r>
          </a:p>
          <a:p>
            <a:pPr>
              <a:lnSpc>
                <a:spcPct val="200000"/>
              </a:lnSpc>
            </a:pPr>
            <a:r>
              <a:rPr lang="en-US" dirty="0"/>
              <a:t>Flexible To Changes.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386904-E69F-F21C-BEC3-C76DE706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Incremental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50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8608A-0B14-E9A4-BFE0-7D9CA8574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94" y="2192438"/>
            <a:ext cx="11165746" cy="49549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F3CF4F-1561-3DB1-4BF6-FBD7B238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EVOLUTIONERY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2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42A9-12BF-DED2-A52D-774C5F6B9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566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Evolutionery Model is a Combination of Iterative &amp; Incremental Model of Software Development Life Cyle (SDLC).</a:t>
            </a:r>
          </a:p>
          <a:p>
            <a:pPr>
              <a:lnSpc>
                <a:spcPct val="150000"/>
              </a:lnSpc>
            </a:pPr>
            <a:r>
              <a:rPr lang="en-US" dirty="0"/>
              <a:t>Incremental Model First Implement a few basic features and deliver to the customers. Then build the next part and deliver it again and repeat this step until the desired system is fully realized no long-term plans are made.</a:t>
            </a:r>
          </a:p>
          <a:p>
            <a:pPr>
              <a:lnSpc>
                <a:spcPct val="150000"/>
              </a:lnSpc>
            </a:pPr>
            <a:r>
              <a:rPr lang="en-US" dirty="0"/>
              <a:t>Iterative model Main Advantage is its Feedback process in every phase.</a:t>
            </a:r>
          </a:p>
          <a:p>
            <a:pPr>
              <a:lnSpc>
                <a:spcPct val="150000"/>
              </a:lnSpc>
            </a:pPr>
            <a:r>
              <a:rPr lang="en-US" dirty="0"/>
              <a:t>Also Known as </a:t>
            </a:r>
            <a:r>
              <a:rPr lang="en-US" b="1" dirty="0"/>
              <a:t>“Design a Little, Build a Little, Test a Little, Deploy a Little Model”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C3BBC2-237D-E8E9-85B3-5EAF80E97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EVOLUTIONERY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1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DE90-45F8-BCFF-6D08-FDAB2024B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31524"/>
          </a:xfrm>
        </p:spPr>
        <p:txBody>
          <a:bodyPr>
            <a:normAutofit/>
          </a:bodyPr>
          <a:lstStyle/>
          <a:p>
            <a:r>
              <a:rPr lang="en-US" sz="2400" b="1" dirty="0"/>
              <a:t>Advantages:</a:t>
            </a:r>
          </a:p>
          <a:p>
            <a:r>
              <a:rPr lang="en-US" sz="2000" dirty="0"/>
              <a:t>Customer Requirements are clearly specified.</a:t>
            </a:r>
          </a:p>
          <a:p>
            <a:r>
              <a:rPr lang="en-US" dirty="0"/>
              <a:t>Risk Analysis is better.</a:t>
            </a:r>
          </a:p>
          <a:p>
            <a:r>
              <a:rPr lang="en-US" dirty="0"/>
              <a:t>It Supports Changing Environment.</a:t>
            </a:r>
          </a:p>
          <a:p>
            <a:r>
              <a:rPr lang="en-US" dirty="0"/>
              <a:t>Initial Operating Time is Less.</a:t>
            </a:r>
          </a:p>
          <a:p>
            <a:r>
              <a:rPr lang="en-US" dirty="0"/>
              <a:t>Better Suited for large mission – critical projects.</a:t>
            </a:r>
          </a:p>
          <a:p>
            <a:r>
              <a:rPr lang="en-US" sz="2000" b="1" dirty="0"/>
              <a:t>Disadvantages:</a:t>
            </a:r>
          </a:p>
          <a:p>
            <a:r>
              <a:rPr lang="en-US" sz="2000" dirty="0"/>
              <a:t>High Cost</a:t>
            </a:r>
          </a:p>
          <a:p>
            <a:r>
              <a:rPr lang="en-US" sz="2000" dirty="0"/>
              <a:t>Highly Skilled resources are required.</a:t>
            </a:r>
          </a:p>
          <a:p>
            <a:endParaRPr lang="en-IN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F62CBD-1FBC-99E8-3BF1-97E2B32C3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EVOLUTIONERY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94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CDF8B2-D602-2EC5-2CEE-0254C11A8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39" y="2402164"/>
            <a:ext cx="8858774" cy="42545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5265C9-7679-72C6-824F-0BB0D171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Spiral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0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FDD44-53CD-67AE-7325-9976E480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392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Radius of Spiral = Cost.</a:t>
            </a:r>
            <a:r>
              <a:rPr lang="en-IN" dirty="0"/>
              <a:t> Increase in radius = Increase in Cost.</a:t>
            </a:r>
          </a:p>
          <a:p>
            <a:pPr>
              <a:lnSpc>
                <a:spcPct val="150000"/>
              </a:lnSpc>
            </a:pPr>
            <a:r>
              <a:rPr lang="en-IN" dirty="0"/>
              <a:t>Angular Dimensions = Progress.</a:t>
            </a:r>
            <a:br>
              <a:rPr lang="en-IN" dirty="0"/>
            </a:br>
            <a:r>
              <a:rPr lang="en-IN" dirty="0"/>
              <a:t>180 Degree = 2 Phases.</a:t>
            </a:r>
            <a:br>
              <a:rPr lang="en-IN" dirty="0"/>
            </a:br>
            <a:r>
              <a:rPr lang="en-IN" dirty="0"/>
              <a:t>360 Degree = 4 Phases.(1 Round Completed).</a:t>
            </a:r>
          </a:p>
          <a:p>
            <a:pPr>
              <a:lnSpc>
                <a:spcPct val="150000"/>
              </a:lnSpc>
            </a:pPr>
            <a:r>
              <a:rPr lang="en-IN" dirty="0"/>
              <a:t>It is also Called  </a:t>
            </a:r>
            <a:r>
              <a:rPr lang="en-IN" b="1" dirty="0"/>
              <a:t>Meta Models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Means using Multiple Models.</a:t>
            </a:r>
            <a:br>
              <a:rPr lang="en-IN" dirty="0"/>
            </a:br>
            <a:r>
              <a:rPr lang="en-IN" dirty="0"/>
              <a:t>1)Step-By-Step working = </a:t>
            </a:r>
            <a:r>
              <a:rPr lang="en-IN" b="1" dirty="0"/>
              <a:t>Waterfall Model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2)Feedback Taking = </a:t>
            </a:r>
            <a:r>
              <a:rPr lang="en-IN" b="1" dirty="0"/>
              <a:t>Iterative Model.</a:t>
            </a:r>
            <a:br>
              <a:rPr lang="en-IN" b="1" dirty="0"/>
            </a:br>
            <a:r>
              <a:rPr lang="en-IN" dirty="0"/>
              <a:t>3)Prototype can be make due to Risk = </a:t>
            </a:r>
            <a:r>
              <a:rPr lang="en-IN" b="1" dirty="0"/>
              <a:t>Prototype Model.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3C9CD4-8D1D-A137-6E5E-0B3A6DB2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Spiral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243164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D0506-BC5F-C59D-5858-91557CCF5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650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b="1" dirty="0"/>
              <a:t>Advantages: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Risk Handling.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Large Projects.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Flexible.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Customer Satisfaction.</a:t>
            </a:r>
          </a:p>
          <a:p>
            <a:pPr>
              <a:lnSpc>
                <a:spcPct val="110000"/>
              </a:lnSpc>
            </a:pPr>
            <a:r>
              <a:rPr lang="en-US" sz="1600" b="1" dirty="0"/>
              <a:t>Disadvantages: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Complex.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Expensive.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Too much risk analysis.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Time.</a:t>
            </a:r>
            <a:endParaRPr lang="en-IN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0420A3-FB83-2B59-6DEB-5D997B31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Spiral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E642C7-277D-AD9B-5F27-868469473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86" y="2407641"/>
            <a:ext cx="10167457" cy="436646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6707E51-078E-E9C4-D8BF-7FDBA9A4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Agile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0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4F2E0-F201-7680-C917-06B6D51F6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141" y="2544776"/>
            <a:ext cx="9569552" cy="391474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Latest Model.</a:t>
            </a:r>
          </a:p>
          <a:p>
            <a:pPr>
              <a:lnSpc>
                <a:spcPct val="200000"/>
              </a:lnSpc>
            </a:pPr>
            <a:r>
              <a:rPr lang="en-US" dirty="0"/>
              <a:t>Mostly Companies are using, for example – Amazon, Facebook.</a:t>
            </a:r>
          </a:p>
          <a:p>
            <a:pPr>
              <a:lnSpc>
                <a:spcPct val="200000"/>
              </a:lnSpc>
            </a:pPr>
            <a:r>
              <a:rPr lang="en-US" dirty="0"/>
              <a:t>In This Model – it divides Large Projects into small </a:t>
            </a:r>
            <a:r>
              <a:rPr lang="en-US" b="1" dirty="0"/>
              <a:t>CHUNKS </a:t>
            </a:r>
            <a:r>
              <a:rPr lang="en-US" dirty="0"/>
              <a:t>or we can say into small </a:t>
            </a:r>
            <a:r>
              <a:rPr lang="en-US" b="1" dirty="0"/>
              <a:t>Iterations(small Pieces)</a:t>
            </a:r>
            <a:r>
              <a:rPr lang="en-US" dirty="0"/>
              <a:t>. Then after designing, implementing and testing it releases the Iteration and takes feedback from customers if it worked then will go ahead, it not then re-worked &amp; modified it then Re-Release.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7E2BA1-08F8-2B00-44E6-A8E03BAC5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Agile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0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822C-9147-AE42-453E-A8653D99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063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Advantages:</a:t>
            </a:r>
          </a:p>
          <a:p>
            <a:pPr>
              <a:lnSpc>
                <a:spcPct val="150000"/>
              </a:lnSpc>
            </a:pPr>
            <a:r>
              <a:rPr lang="en-US" dirty="0"/>
              <a:t>Frequent Delivery.</a:t>
            </a:r>
          </a:p>
          <a:p>
            <a:pPr>
              <a:lnSpc>
                <a:spcPct val="150000"/>
              </a:lnSpc>
            </a:pPr>
            <a:r>
              <a:rPr lang="en-US" dirty="0"/>
              <a:t>Face to face communication with client.</a:t>
            </a:r>
          </a:p>
          <a:p>
            <a:pPr>
              <a:lnSpc>
                <a:spcPct val="150000"/>
              </a:lnSpc>
            </a:pPr>
            <a:r>
              <a:rPr lang="en-US" dirty="0"/>
              <a:t>Flexible for changes.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Disadvantages: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Less Documentation:</a:t>
            </a:r>
            <a:r>
              <a:rPr lang="en-IN" dirty="0"/>
              <a:t> Agile works less on Documentation &amp; Negotiation with customers instead of this it focuses on Implementation.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Maintenance Problem:</a:t>
            </a:r>
            <a:r>
              <a:rPr lang="en-IN" dirty="0"/>
              <a:t> Due to Frequently releasing updated.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6D56B-C012-0765-C780-6A3DBA35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Agile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248422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304A67-E0CD-F597-DCDE-A0912D09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SCrum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7313552-C0D1-7360-F34A-737D1C8A7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98583"/>
            <a:ext cx="12191999" cy="455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48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BAD28-4A09-0B6E-8107-47D7D1F19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72" y="2603500"/>
            <a:ext cx="10494628" cy="404897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One of the most popular agile methodology.</a:t>
            </a:r>
          </a:p>
          <a:p>
            <a:pPr>
              <a:lnSpc>
                <a:spcPct val="170000"/>
              </a:lnSpc>
            </a:pPr>
            <a:r>
              <a:rPr lang="en-US" dirty="0"/>
              <a:t>Scrum is light weight, iterative &amp; incremental framework.</a:t>
            </a:r>
          </a:p>
          <a:p>
            <a:pPr>
              <a:lnSpc>
                <a:spcPct val="170000"/>
              </a:lnSpc>
            </a:pPr>
            <a:r>
              <a:rPr lang="en-US" dirty="0"/>
              <a:t>Companies like Google, Apple, Spotify, Adobe, Microsoft &amp; HP are using Scrum Model.</a:t>
            </a:r>
          </a:p>
          <a:p>
            <a:pPr>
              <a:lnSpc>
                <a:spcPct val="170000"/>
              </a:lnSpc>
            </a:pPr>
            <a:r>
              <a:rPr lang="en-US" dirty="0"/>
              <a:t>Scrum breaks down the development phases into stages or cycles called </a:t>
            </a:r>
            <a:r>
              <a:rPr lang="en-US" b="1" dirty="0"/>
              <a:t>“Sprints”. </a:t>
            </a:r>
            <a:r>
              <a:rPr lang="en-US" dirty="0"/>
              <a:t>[Limited Time – Maximum Power]</a:t>
            </a:r>
          </a:p>
          <a:p>
            <a:pPr>
              <a:lnSpc>
                <a:spcPct val="170000"/>
              </a:lnSpc>
            </a:pPr>
            <a:r>
              <a:rPr lang="en-US" dirty="0"/>
              <a:t>Sprint Duration – : Minimum – 2 Weeks, Maximum – 1 Month. Then review with the stack holders.</a:t>
            </a:r>
          </a:p>
          <a:p>
            <a:pPr>
              <a:lnSpc>
                <a:spcPct val="170000"/>
              </a:lnSpc>
            </a:pPr>
            <a:r>
              <a:rPr lang="en-US" dirty="0"/>
              <a:t>Manage only 1 Sprint at a time.</a:t>
            </a:r>
          </a:p>
          <a:p>
            <a:pPr>
              <a:lnSpc>
                <a:spcPct val="170000"/>
              </a:lnSpc>
            </a:pPr>
            <a:r>
              <a:rPr lang="en-US" dirty="0"/>
              <a:t>Scrum Team has </a:t>
            </a:r>
            <a:r>
              <a:rPr lang="en-US" b="1" dirty="0"/>
              <a:t>“Run Master” </a:t>
            </a:r>
            <a:r>
              <a:rPr lang="en-US" dirty="0"/>
              <a:t>who communicates with the </a:t>
            </a:r>
            <a:r>
              <a:rPr lang="en-US" b="1" dirty="0"/>
              <a:t>“Product Owner” </a:t>
            </a:r>
            <a:r>
              <a:rPr lang="en-US" dirty="0"/>
              <a:t>on a daily basis.</a:t>
            </a:r>
            <a:endParaRPr lang="en-IN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BC6627-EB81-9D6A-0EA5-91863C1FF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SCrum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092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E0CB-54E3-E496-C26A-E76B4A447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8" y="2595111"/>
            <a:ext cx="9628275" cy="386441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KEYWORDS:-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Backlog</a:t>
            </a:r>
            <a:r>
              <a:rPr lang="en-US" b="1" dirty="0"/>
              <a:t> – </a:t>
            </a:r>
            <a:r>
              <a:rPr lang="en-US" dirty="0"/>
              <a:t>A form where basic Designs &amp; Planning are mentioned.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Sprints</a:t>
            </a:r>
            <a:r>
              <a:rPr lang="en-US" b="1" dirty="0"/>
              <a:t> – </a:t>
            </a:r>
            <a:r>
              <a:rPr lang="en-US" dirty="0"/>
              <a:t>Small parts of a large project.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Daily Scrum</a:t>
            </a:r>
            <a:r>
              <a:rPr lang="en-US" b="1" dirty="0"/>
              <a:t> – </a:t>
            </a:r>
            <a:r>
              <a:rPr lang="en-US" dirty="0"/>
              <a:t>A 10-15 min Daily Meeting of </a:t>
            </a:r>
            <a:r>
              <a:rPr lang="en-US" u="sng" dirty="0"/>
              <a:t>Developers with Stack Holders</a:t>
            </a:r>
            <a:r>
              <a:rPr lang="en-IN" b="1" u="sng" dirty="0"/>
              <a:t>. </a:t>
            </a:r>
            <a:r>
              <a:rPr lang="en-IN" u="sng" dirty="0"/>
              <a:t> </a:t>
            </a:r>
            <a:r>
              <a:rPr lang="en-IN" dirty="0"/>
              <a:t>Then developers discuss with the team &amp; then implements the final product.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Scrum Master</a:t>
            </a:r>
            <a:r>
              <a:rPr lang="en-IN" dirty="0"/>
              <a:t> – Person who monitors everything &amp; manages Team as well as Stack Holders.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Product Owner</a:t>
            </a:r>
            <a:r>
              <a:rPr lang="en-IN" b="1" dirty="0"/>
              <a:t> – </a:t>
            </a:r>
            <a:r>
              <a:rPr lang="en-IN" dirty="0"/>
              <a:t>Client.</a:t>
            </a:r>
            <a:r>
              <a:rPr lang="en-IN" u="sng" dirty="0"/>
              <a:t>  </a:t>
            </a:r>
            <a:endParaRPr lang="en-US" u="sng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1804D7-F4BE-4F87-F092-3E6F4FF3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973138"/>
            <a:ext cx="8761413" cy="708025"/>
          </a:xfrm>
        </p:spPr>
        <p:txBody>
          <a:bodyPr/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SCrum MODEL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751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37900-7FD5-FCC1-CC04-22E730DD7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03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822BB9-2699-57E1-0D8B-096B417FF4D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18371520"/>
              </p:ext>
            </p:extLst>
          </p:nvPr>
        </p:nvGraphicFramePr>
        <p:xfrm>
          <a:off x="0" y="-84138"/>
          <a:ext cx="12273096" cy="11717998"/>
        </p:xfrm>
        <a:graphic>
          <a:graphicData uri="http://schemas.openxmlformats.org/drawingml/2006/table">
            <a:tbl>
              <a:tblPr/>
              <a:tblGrid>
                <a:gridCol w="1534137">
                  <a:extLst>
                    <a:ext uri="{9D8B030D-6E8A-4147-A177-3AD203B41FA5}">
                      <a16:colId xmlns:a16="http://schemas.microsoft.com/office/drawing/2014/main" val="2137077452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1305891838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3804999073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909171434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2307651738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540750525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1491316006"/>
                    </a:ext>
                  </a:extLst>
                </a:gridCol>
                <a:gridCol w="1534137">
                  <a:extLst>
                    <a:ext uri="{9D8B030D-6E8A-4147-A177-3AD203B41FA5}">
                      <a16:colId xmlns:a16="http://schemas.microsoft.com/office/drawing/2014/main" val="4242051242"/>
                    </a:ext>
                  </a:extLst>
                </a:gridCol>
              </a:tblGrid>
              <a:tr h="466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0809"/>
                  </a:ext>
                </a:extLst>
              </a:tr>
              <a:tr h="18316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708419"/>
                  </a:ext>
                </a:extLst>
              </a:tr>
              <a:tr h="13765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117122"/>
                  </a:ext>
                </a:extLst>
              </a:tr>
              <a:tr h="13765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24518"/>
                  </a:ext>
                </a:extLst>
              </a:tr>
              <a:tr h="11490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442427"/>
                  </a:ext>
                </a:extLst>
              </a:tr>
              <a:tr h="9214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590527"/>
                  </a:ext>
                </a:extLst>
              </a:tr>
              <a:tr h="11490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621219"/>
                  </a:ext>
                </a:extLst>
              </a:tr>
              <a:tr h="9214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196467"/>
                  </a:ext>
                </a:extLst>
              </a:tr>
              <a:tr h="13765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737931"/>
                  </a:ext>
                </a:extLst>
              </a:tr>
              <a:tr h="11490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9086" marR="9086" marT="4543" marB="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5060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466DD-B509-DD85-5EF0-78742E74E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553765"/>
              </p:ext>
            </p:extLst>
          </p:nvPr>
        </p:nvGraphicFramePr>
        <p:xfrm>
          <a:off x="0" y="0"/>
          <a:ext cx="12192000" cy="685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441432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4663392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27320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398469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5433365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11840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458423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52216697"/>
                    </a:ext>
                  </a:extLst>
                </a:gridCol>
              </a:tblGrid>
              <a:tr h="587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Basic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Process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Customer Involvement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Flexibility to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Risk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Testing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Best Suitable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373793"/>
                  </a:ext>
                </a:extLst>
              </a:tr>
              <a:tr h="928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Waterfall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Development flows sequentially through phases (requirements → design → implementation → testing → deployment).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Linear / Sequential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Poor risk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Testing happens after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Small projects with clear and fixed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961574"/>
                  </a:ext>
                </a:extLst>
              </a:tr>
              <a:tr h="7893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Iterative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System is developed through repeated cycles (iterations), improving the product each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Repetitive cycles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Testing done in every iteration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Projects where requirements evolve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820783"/>
                  </a:ext>
                </a:extLst>
              </a:tr>
              <a:tr h="7893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V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Extension of Waterfall where each development phase has a corresponding testing phase.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Sequential with verification &amp;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Testing planned in parallel with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Systems requiring strict testing (e.g., safety-critical systems)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065555"/>
                  </a:ext>
                </a:extLst>
              </a:tr>
              <a:tr h="65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Prototype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A working prototype is built first to understand and refine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Prototype-driven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Testing mainly on prototype and final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Projects with unclear or changing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805744"/>
                  </a:ext>
                </a:extLst>
              </a:tr>
              <a:tr h="512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Incremental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System is built and delivered in small functional increments.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Step-by-step increments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Medium–High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Each increment is tested separately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Large systems needing early partial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233795"/>
                  </a:ext>
                </a:extLst>
              </a:tr>
              <a:tr h="65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Evolutionary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System evolves continuously with new features based on feedback.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Continuous evolution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Continuous testing as system evolves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Projects where requirements are not well 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017859"/>
                  </a:ext>
                </a:extLst>
              </a:tr>
              <a:tr h="65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Spiral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Combines iterative development with risk analysis in each spiral cycle.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Risk-driven iterative cycles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Excellent risk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Testing in every spiral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Large, complex, and high-risk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888813"/>
                  </a:ext>
                </a:extLst>
              </a:tr>
              <a:tr h="65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Agile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Development is done in small iterations with frequent delivery and customer feedback.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Iterative &amp; incremental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Good risk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Continuous testing and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Dynamic projects with frequently changing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729748"/>
                  </a:ext>
                </a:extLst>
              </a:tr>
              <a:tr h="65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/>
                        <a:t>Scrum Model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Agile framework using short cycles called sprints with defined roles and ceremonies.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Agile framework with sprints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/>
                        <a:t>Good risk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Testing done within every sprint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Team-based projects requiring rapid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21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049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banner clip art #5811993 | Clipart Library">
            <a:extLst>
              <a:ext uri="{FF2B5EF4-FFF2-40B4-BE49-F238E27FC236}">
                <a16:creationId xmlns:a16="http://schemas.microsoft.com/office/drawing/2014/main" id="{398F5601-657C-22E7-F100-C9E1741C8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7113"/>
            <a:ext cx="12192000" cy="692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ame 7">
            <a:extLst>
              <a:ext uri="{FF2B5EF4-FFF2-40B4-BE49-F238E27FC236}">
                <a16:creationId xmlns:a16="http://schemas.microsoft.com/office/drawing/2014/main" id="{7936C029-CA5F-A2B0-8D8E-B76728A99005}"/>
              </a:ext>
            </a:extLst>
          </p:cNvPr>
          <p:cNvSpPr/>
          <p:nvPr/>
        </p:nvSpPr>
        <p:spPr>
          <a:xfrm>
            <a:off x="8623883" y="5486400"/>
            <a:ext cx="3568117" cy="137160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123F98-F6ED-609B-C321-D43C0C55FCC4}"/>
              </a:ext>
            </a:extLst>
          </p:cNvPr>
          <p:cNvSpPr/>
          <p:nvPr/>
        </p:nvSpPr>
        <p:spPr>
          <a:xfrm>
            <a:off x="8791662" y="5645791"/>
            <a:ext cx="3254930" cy="10654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</a:rPr>
              <a:t>PPT BY – Prof.Vivek Bhati</a:t>
            </a:r>
            <a:endParaRPr lang="en-IN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0245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423468-7AC3-4C87-BE66-85479074D868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1836</TotalTime>
  <Words>1505</Words>
  <Application>Microsoft Office PowerPoint</Application>
  <PresentationFormat>Widescreen</PresentationFormat>
  <Paragraphs>209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Algerian</vt:lpstr>
      <vt:lpstr>Arial</vt:lpstr>
      <vt:lpstr>Century Gothic</vt:lpstr>
      <vt:lpstr>Wingdings 3</vt:lpstr>
      <vt:lpstr>Ion Boardroom</vt:lpstr>
      <vt:lpstr>SOFTWARE DEVELOPMENT                    🧑‍💻</vt:lpstr>
      <vt:lpstr>SOFTWARE ENGINEERING</vt:lpstr>
      <vt:lpstr>EVOLUTION phases</vt:lpstr>
      <vt:lpstr>EVOLUTION phases</vt:lpstr>
      <vt:lpstr>CONCLUSION</vt:lpstr>
      <vt:lpstr>SOFTWARE DEVELOPMENT LIFE CYCLE</vt:lpstr>
      <vt:lpstr>CLASSICAL WATERFALL MODEL</vt:lpstr>
      <vt:lpstr>CLASSICAL WATERFALL MODEL</vt:lpstr>
      <vt:lpstr>Iterative MODEL</vt:lpstr>
      <vt:lpstr>Iterative MODEL</vt:lpstr>
      <vt:lpstr>V MODEL</vt:lpstr>
      <vt:lpstr>V MODEL</vt:lpstr>
      <vt:lpstr>V MODEL</vt:lpstr>
      <vt:lpstr>PROTOTYPE MODEL</vt:lpstr>
      <vt:lpstr>PROTOTYPE MODEL</vt:lpstr>
      <vt:lpstr>Incremental MODEL</vt:lpstr>
      <vt:lpstr>Incremental MODEL</vt:lpstr>
      <vt:lpstr>EVOLUTIONERY MODEL</vt:lpstr>
      <vt:lpstr>EVOLUTIONERY MODEL</vt:lpstr>
      <vt:lpstr>EVOLUTIONERY MODEL</vt:lpstr>
      <vt:lpstr>Spiral MODEL</vt:lpstr>
      <vt:lpstr>Spiral MODEL</vt:lpstr>
      <vt:lpstr>Spiral MODEL</vt:lpstr>
      <vt:lpstr>Agile MODEL</vt:lpstr>
      <vt:lpstr>Agile MODEL</vt:lpstr>
      <vt:lpstr>Agile MODEL</vt:lpstr>
      <vt:lpstr>SCrum MODEL</vt:lpstr>
      <vt:lpstr>SCrum MODEL</vt:lpstr>
      <vt:lpstr>SCrum MODEL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bhati</dc:creator>
  <cp:lastModifiedBy>vivek bhati</cp:lastModifiedBy>
  <cp:revision>14</cp:revision>
  <dcterms:created xsi:type="dcterms:W3CDTF">2026-02-07T04:19:53Z</dcterms:created>
  <dcterms:modified xsi:type="dcterms:W3CDTF">2026-03-07T06:26:30Z</dcterms:modified>
</cp:coreProperties>
</file>